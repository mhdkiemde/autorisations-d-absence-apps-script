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080"/>
                </a:solidFill>
                <a:latin typeface="Trebuchet MS"/>
              </a:rPr>
              <a:t>▲ massaka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Trebuchet MS"/>
              </a:rPr>
              <a:t>Demande d’autorisation d’absence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8080"/>
                </a:solidFill>
                <a:latin typeface="Trebuchet MS"/>
              </a:rPr>
              <a:t>Formation — comment soumettre et valider une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4754880"/>
            <a:ext cx="2011680" cy="7315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Trebuchet MS"/>
              </a:rPr>
              <a:t>Massaka SAS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Vue d’ensemble : un circuit 100 % en ligne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200400" cy="265176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lIns="228600" rIns="228600"/>
          <a:lstStyle/>
          <a:p>
            <a:pPr algn="ctr"/>
            <a:r>
              <a:rPr sz="2000" b="1">
                <a:solidFill>
                  <a:srgbClr val="005555"/>
                </a:solidFill>
                <a:latin typeface="Trebuchet MS"/>
              </a:rPr>
              <a:t>1. Je soumets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Formulaire Google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(2 minutes, depuis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téléphone ou ordinateur)</a:t>
            </a:r>
          </a:p>
        </p:txBody>
      </p:sp>
      <p:sp>
        <p:nvSpPr>
          <p:cNvPr id="5" name="Chevron 4"/>
          <p:cNvSpPr/>
          <p:nvPr/>
        </p:nvSpPr>
        <p:spPr>
          <a:xfrm>
            <a:off x="3950208" y="292608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200400" cy="265176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lIns="228600" rIns="228600"/>
          <a:lstStyle/>
          <a:p>
            <a:pPr algn="ctr"/>
            <a:r>
              <a:rPr sz="2000" b="1">
                <a:solidFill>
                  <a:srgbClr val="005555"/>
                </a:solidFill>
                <a:latin typeface="Trebuchet MS"/>
              </a:rPr>
              <a:t>2. C’est validé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Le Responsable puis la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Présidence reçoivent un email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avec des boutons de décision</a:t>
            </a:r>
          </a:p>
        </p:txBody>
      </p:sp>
      <p:sp>
        <p:nvSpPr>
          <p:cNvPr id="7" name="Chevron 6"/>
          <p:cNvSpPr/>
          <p:nvPr/>
        </p:nvSpPr>
        <p:spPr>
          <a:xfrm>
            <a:off x="7882128" y="292608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828800"/>
            <a:ext cx="3200400" cy="265176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lIns="228600" rIns="228600"/>
          <a:lstStyle/>
          <a:p>
            <a:pPr algn="ctr"/>
            <a:r>
              <a:rPr sz="2000" b="1">
                <a:solidFill>
                  <a:srgbClr val="005555"/>
                </a:solidFill>
                <a:latin typeface="Trebuchet MS"/>
              </a:rPr>
              <a:t>3. Je suis informé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Email de décision finale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+ document PDF officiel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si la demande est approuvée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Trebuchet MS"/>
              </a:rPr>
              <a:t>Aucun papier, aucune signature manuelle : tout passe par email et chaque demande reçoit une référence unique (ex : MSK-2026-0001).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Qui valide quoi ? Les 4 départements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743200" cy="77724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CpD</a:t>
            </a:r>
          </a:p>
        </p:txBody>
      </p:sp>
      <p:sp>
        <p:nvSpPr>
          <p:cNvPr id="5" name="Chevron 4"/>
          <p:cNvSpPr/>
          <p:nvPr/>
        </p:nvSpPr>
        <p:spPr>
          <a:xfrm>
            <a:off x="3520440" y="164592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0" y="1463040"/>
            <a:ext cx="3291840" cy="77724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B2B2B"/>
                </a:solidFill>
                <a:latin typeface="Trebuchet MS"/>
              </a:rPr>
              <a:t>Responsable CpD</a:t>
            </a:r>
          </a:p>
        </p:txBody>
      </p:sp>
      <p:sp>
        <p:nvSpPr>
          <p:cNvPr id="7" name="Chevron 6"/>
          <p:cNvSpPr/>
          <p:nvPr/>
        </p:nvSpPr>
        <p:spPr>
          <a:xfrm>
            <a:off x="7635240" y="164592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1463040"/>
            <a:ext cx="3200400" cy="777240"/>
          </a:xfrm>
          <a:prstGeom prst="round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Co-président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2743200" cy="77724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Digitale</a:t>
            </a:r>
          </a:p>
        </p:txBody>
      </p:sp>
      <p:sp>
        <p:nvSpPr>
          <p:cNvPr id="10" name="Chevron 9"/>
          <p:cNvSpPr/>
          <p:nvPr/>
        </p:nvSpPr>
        <p:spPr>
          <a:xfrm>
            <a:off x="3520440" y="265176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2468880"/>
            <a:ext cx="3291840" cy="77724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B2B2B"/>
                </a:solidFill>
                <a:latin typeface="Trebuchet MS"/>
              </a:rPr>
              <a:t>Responsable Digitale</a:t>
            </a:r>
          </a:p>
        </p:txBody>
      </p:sp>
      <p:sp>
        <p:nvSpPr>
          <p:cNvPr id="12" name="Chevron 11"/>
          <p:cNvSpPr/>
          <p:nvPr/>
        </p:nvSpPr>
        <p:spPr>
          <a:xfrm>
            <a:off x="7635240" y="265176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468880"/>
            <a:ext cx="3200400" cy="777240"/>
          </a:xfrm>
          <a:prstGeom prst="round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Co-président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2743200" cy="77724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Technique</a:t>
            </a:r>
          </a:p>
        </p:txBody>
      </p:sp>
      <p:sp>
        <p:nvSpPr>
          <p:cNvPr id="15" name="Chevron 14"/>
          <p:cNvSpPr/>
          <p:nvPr/>
        </p:nvSpPr>
        <p:spPr>
          <a:xfrm>
            <a:off x="3520440" y="365760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3474720"/>
            <a:ext cx="3291840" cy="77724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B2B2B"/>
                </a:solidFill>
                <a:latin typeface="Trebuchet MS"/>
              </a:rPr>
              <a:t>Responsable Technique</a:t>
            </a:r>
          </a:p>
        </p:txBody>
      </p:sp>
      <p:sp>
        <p:nvSpPr>
          <p:cNvPr id="17" name="Chevron 16"/>
          <p:cNvSpPr/>
          <p:nvPr/>
        </p:nvSpPr>
        <p:spPr>
          <a:xfrm>
            <a:off x="7635240" y="365760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3474720"/>
            <a:ext cx="3200400" cy="777240"/>
          </a:xfrm>
          <a:prstGeom prst="round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Co-président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2743200" cy="77724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SAF</a:t>
            </a:r>
          </a:p>
        </p:txBody>
      </p:sp>
      <p:sp>
        <p:nvSpPr>
          <p:cNvPr id="20" name="Chevron 19"/>
          <p:cNvSpPr/>
          <p:nvPr/>
        </p:nvSpPr>
        <p:spPr>
          <a:xfrm>
            <a:off x="3520440" y="466344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4480560"/>
            <a:ext cx="3291840" cy="77724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B2B2B"/>
                </a:solidFill>
                <a:latin typeface="Trebuchet MS"/>
              </a:rPr>
              <a:t>— (aucun responsable)</a:t>
            </a:r>
          </a:p>
        </p:txBody>
      </p:sp>
      <p:sp>
        <p:nvSpPr>
          <p:cNvPr id="22" name="Chevron 21"/>
          <p:cNvSpPr/>
          <p:nvPr/>
        </p:nvSpPr>
        <p:spPr>
          <a:xfrm>
            <a:off x="7635240" y="4663440"/>
            <a:ext cx="502920" cy="411480"/>
          </a:xfrm>
          <a:prstGeom prst="chevron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4480560"/>
            <a:ext cx="3200400" cy="777240"/>
          </a:xfrm>
          <a:prstGeom prst="round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Président directement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Trebuchet MS"/>
              </a:rPr>
              <a:t>Un seul Président (celui du SAF) et un Co-président qui valide CpD, Digitale et Technique. Le SAF n’a pas de supérieur : ses demandes vont directement au Président.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8080"/>
                </a:solidFill>
                <a:latin typeface="Trebuchet MS"/>
              </a:rPr>
              <a:t>PARTIE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rebuchet MS"/>
              </a:rPr>
              <a:t>Côté employé : soumettre une demande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206240"/>
            <a:ext cx="2011680" cy="7315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Étape 1 : remplir le formulaire Google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Connectez-vous avec votre compte Google : votre adresse email est enregistrée automatiquement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C’est cette adresse qui recevra toutes les notifications — utilisez votre compte habituel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Renseignez votre nom, prénom(s) et votre département (CpD, Digitale, Technique ou SAF)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Choisissez le type d’absence et le motif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Indiquez la date de début, puis la durée :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« Toute la journée » — le système remplit les heures automatiquement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« Personnaliser » — vous précisez heure de début, heure de fin et date de fin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Validez : vous recevez immédiatement un accusé de réception par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Les types d’absence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Maladie d’un proche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Famille — durée calculée automatiquement selon le motif :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Mariage du travailleur (2 j) · Naissance d’un enfant (3 j) · Mariage d’un enfant/frère/sœur (2 j)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Décès du conjoint ou d’un ascendant (2 j) · Décès frère/sœur (2 j) · Décès beau-parent (2 j)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Administration (démarches administratives)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Activités judiciaires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Motif syndical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Urgence — seul type accepté sans préavis (voir slide suivante)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Autre — avec motif libre à détailler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La règle d’or : 3 jours ouvrables de préavis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11887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5555"/>
                </a:solidFill>
                <a:latin typeface="Trebuchet MS"/>
              </a:rPr>
              <a:t>Toute demande doit être soumise au moins 3 jours ouvrables avant la date de début.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Les samedis, dimanches et jours fériés ne comptent PAS dans les 3 jours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Exemple : pour une absence lundi, soumettre au plus tard le mardi précédent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Préavis insuffisant = rejet automatique immédiat, sans examen par un validateur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Vous recevez un email d’explication — vous pouvez soumettre une nouvelle demande avec de meilleures dates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Exception : le type « Urgence » est accepté à tout moment, mais suit le circuit de validation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Les emails que vous recevez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657600" cy="914400"/>
          </a:xfrm>
          <a:prstGeom prst="roundRect">
            <a:avLst/>
          </a:prstGeom>
          <a:solidFill>
            <a:srgbClr val="00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À la soumission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54480"/>
            <a:ext cx="7040880" cy="91440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Accusé de réception avec votre référence MSK-…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3657600" cy="914400"/>
          </a:xfrm>
          <a:prstGeom prst="round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Pendant la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697480"/>
            <a:ext cx="7040880" cy="91440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Rien — les étapes intermédiaires sont silencieuses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3657600" cy="914400"/>
          </a:xfrm>
          <a:prstGeom prst="roundRect">
            <a:avLst/>
          </a:prstGeom>
          <a:solidFill>
            <a:srgbClr val="00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Si on vous demande des précisions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80"/>
            <a:ext cx="7040880" cy="91440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Email avec le message du validateur + lien pour répondre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83480"/>
            <a:ext cx="3657600" cy="914400"/>
          </a:xfrm>
          <a:prstGeom prst="roundRect">
            <a:avLst/>
          </a:prstGeom>
          <a:solidFill>
            <a:srgbClr val="00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À la décision finale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983480"/>
            <a:ext cx="7040880" cy="91440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Approuvé : confirmation + PDF officiel · Rejeté : email avec le motif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Si un validateur demande des précisions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Avant de décider, le Responsable ou la Présidence peut vous demander plus de détails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Vous recevez un email avec son message et un bouton « Répondre 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Cliquez, rédigez votre réponse, envoyez : le validateur est notifié et peut alors décider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Répondez rapidement : la demande reste « En attente de précisions » tant que vous n’avez pas répondu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Maximum 2 allers-retours par demande — soyez précis dès la première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8080"/>
                </a:solidFill>
                <a:latin typeface="Trebuchet MS"/>
              </a:rPr>
              <a:t>PARTIE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Trebuchet MS"/>
              </a:rPr>
              <a:t>Côté validateurs : Responsables, Président et Co-président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206240"/>
            <a:ext cx="2011680" cy="7315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Option 1 : décider depuis l’email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383280" cy="822960"/>
          </a:xfrm>
          <a:prstGeom prst="round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✓  APPROUVER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82296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✕  REJETER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383280" cy="82296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5555"/>
                </a:solidFill>
                <a:latin typeface="Trebuchet MS"/>
              </a:rPr>
              <a:t>?  DEMANDER PLUS DE DÉTAILS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Vous recevez un email avec toute la demande : employé, motif, dates, durée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Un clic suffit — une page de confirmation s’ouvre dans votre navigateur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Le lien est personnel et à usage unique :</a:t>
            </a:r>
          </a:p>
          <a:p>
            <a:pPr lvl="1">
              <a:spcAft>
                <a:spcPts val="12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il ne fonctionne qu’avec VOTRE compte Google — ne transférez jamais l’email</a:t>
            </a:r>
          </a:p>
          <a:p>
            <a:pPr lvl="1">
              <a:spcAft>
                <a:spcPts val="12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une fois la décision prise, le lien est désactivé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▲  En cas de rejet ou de demande de détails, un champ vous permet d’expliquer votre motif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Option 2 : décider dans le Google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 tableau de suivi contient une ligne par demande, avec les colonnes d’avis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Choisissez « Approuvé » ou « Rejeté » dans le menu déroulant de VOTRE colonne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Colonne Avis Supérieur pour les Responsables · colonne Avis Présidence pour le Président et le Co-président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Pour un rejet : écrivez d’abord le motif dans la colonne Commentaire, PUIS changez l’avis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Chaque cellule est protégée : seul le validateur désigné de la ligne peut la modifier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Les deux modes (email et Sheet) coexistent sans conflit — le premier qui décide l’emporte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Comment la décision avance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 Responsable approuve → la demande part au validateur final compétent (Président ou Co-président)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 validateur final approuve → la demande est close, l’employé reçoit son PDF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Un rejet à N’IMPORTE quel niveau clôture immédiatement la demande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L’employé est prévenu tout de suite, avec le motif du rejet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Anti auto-validation : personne ne valide sa propre demande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Un Responsable qui demande une absence : son niveau est sauté, la demande va au validateur final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Le Président ou le Co-président qui demande une absence : c’est L’AUTRE qui valide (contrôle croisé)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Les demandes du SAF arrivent directement chez le Président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Relances automatiques : personne n’oublie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Chaque jour à 8h00, le système vérifie les demandes en attente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 validateur qui n’a pas répondu depuis 1 jour reçoit un email de relance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Le même lien de décision, remis en avant — rien à chercher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Les relances s’arrêtent automatiquement une fois la date de début de l’absence passée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Conseil : traitez les demandes dès réception, l’employé attend votre réponse pour s’organiser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Après la décision finale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Demande APPROUVÉE :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un dossier Drive est créé au nom de la demande (MSK-…)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le document officiel est généré (Google Doc + PDF)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l’employé reçoit le PDF en pièce jointe de sa confirmation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une copie PDF est archivée dans le dossier admin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Demande REJETÉE :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email immédiat à l’employé avec le motif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aucun document créé — pas de trace dans le Drive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▲  Le statut global de chaque demande est visible dans le tableau de suivi (En cours / Approuvé / Rejeté)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5555"/>
                </a:solidFill>
                <a:latin typeface="Trebuchet MS"/>
              </a:rPr>
              <a:t>Les règles d’or à retenir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94960" cy="4206240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0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/>
            <a:r>
              <a:rPr sz="1800" b="1">
                <a:solidFill>
                  <a:srgbClr val="005555"/>
                </a:solidFill>
                <a:latin typeface="Trebuchet MS"/>
              </a:rPr>
              <a:t>EMPLOYÉS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▲  Anticipez : 3 jours ouvrables minimum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▲  Soumettez avec votre compte Google habituel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▲  Surveillez vos emails (précisions éventuelles)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▲  Urgence réelle uniquement pour le type Urgence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▲  Conservez le PDF de votre autorisation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394960" cy="420624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/>
            <a:r>
              <a:rPr sz="1800" b="1">
                <a:solidFill>
                  <a:srgbClr val="008080"/>
                </a:solidFill>
                <a:latin typeface="Trebuchet MS"/>
              </a:rPr>
              <a:t>VALIDATEURS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▲  Ne transférez JAMAIS votre lien de validation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▲  Motivez toujours vos rejets (commentaire)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▲  Répondez vite : l’employé attend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▲  Sheet ou email : les deux fonctionnent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▲  En cas de doute : « Demander plus de détails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Massaka SAS — Formation : demande d’autorisation d’absence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rebuchet MS"/>
              </a:rPr>
              <a:t>Des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080"/>
                </a:solidFill>
                <a:latin typeface="Trebuchet MS"/>
              </a:rPr>
              <a:t>Merci de votre attention — le système est là pour vous simplifier la vie.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080"/>
                </a:solidFill>
                <a:latin typeface="Trebuchet MS"/>
              </a:rPr>
              <a:t>▲ massaka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