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5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ED957"/>
                </a:solidFill>
                <a:latin typeface="Trebuchet MS"/>
              </a:rPr>
              <a:t>▶ agribusiness tv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Trebuchet MS"/>
              </a:rPr>
              <a:t>Demande d’autorisation d’absence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ED957"/>
                </a:solidFill>
                <a:latin typeface="Trebuchet MS"/>
              </a:rPr>
              <a:t>Formation — comment soumettre et valider une demande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4754880"/>
            <a:ext cx="2011680" cy="73152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Trebuchet MS"/>
              </a:rPr>
              <a:t>Agribusiness TV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Vue d’ensemble : un circuit 100 % en ligne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200400" cy="265176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lIns="228600" rIns="228600"/>
          <a:lstStyle/>
          <a:p>
            <a:pPr algn="ctr"/>
            <a:r>
              <a:rPr sz="2000" b="1">
                <a:solidFill>
                  <a:srgbClr val="015438"/>
                </a:solidFill>
                <a:latin typeface="Trebuchet MS"/>
              </a:rPr>
              <a:t>1. Je soumets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Formulaire Google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(2 minutes, depuis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téléphone ou ordinateur)</a:t>
            </a:r>
          </a:p>
        </p:txBody>
      </p:sp>
      <p:sp>
        <p:nvSpPr>
          <p:cNvPr id="5" name="Chevron 4"/>
          <p:cNvSpPr/>
          <p:nvPr/>
        </p:nvSpPr>
        <p:spPr>
          <a:xfrm>
            <a:off x="3950208" y="2926080"/>
            <a:ext cx="502920" cy="411480"/>
          </a:xfrm>
          <a:prstGeom prst="chevron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200400" cy="265176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lIns="228600" rIns="228600"/>
          <a:lstStyle/>
          <a:p>
            <a:pPr algn="ctr"/>
            <a:r>
              <a:rPr sz="2000" b="1">
                <a:solidFill>
                  <a:srgbClr val="015438"/>
                </a:solidFill>
                <a:latin typeface="Trebuchet MS"/>
              </a:rPr>
              <a:t>2. C’est validé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Le Responsable puis le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Gérant reçoivent un email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avec des boutons de décision</a:t>
            </a:r>
          </a:p>
        </p:txBody>
      </p:sp>
      <p:sp>
        <p:nvSpPr>
          <p:cNvPr id="7" name="Chevron 6"/>
          <p:cNvSpPr/>
          <p:nvPr/>
        </p:nvSpPr>
        <p:spPr>
          <a:xfrm>
            <a:off x="7882128" y="2926080"/>
            <a:ext cx="502920" cy="411480"/>
          </a:xfrm>
          <a:prstGeom prst="chevron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828800"/>
            <a:ext cx="3200400" cy="265176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lIns="228600" rIns="228600"/>
          <a:lstStyle/>
          <a:p>
            <a:pPr algn="ctr"/>
            <a:r>
              <a:rPr sz="2000" b="1">
                <a:solidFill>
                  <a:srgbClr val="015438"/>
                </a:solidFill>
                <a:latin typeface="Trebuchet MS"/>
              </a:rPr>
              <a:t>3. Je suis informé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Email de décision finale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+ document PDF officiel</a:t>
            </a:r>
          </a:p>
          <a:p>
            <a:pPr algn="ctr"/>
            <a:r>
              <a:rPr sz="1400">
                <a:solidFill>
                  <a:srgbClr val="2B2B2B"/>
                </a:solidFill>
                <a:latin typeface="Trebuchet MS"/>
              </a:rPr>
              <a:t>si la demande est approuvée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Trebuchet MS"/>
              </a:rPr>
              <a:t>Aucun papier, aucune signature manuelle : tout passe par email et chaque demande reçoit une référence unique (ex : ABT-2026-0001).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Qui valide quoi ? Les 3 départements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926080" cy="914400"/>
          </a:xfrm>
          <a:prstGeom prst="roundRect">
            <a:avLst/>
          </a:prstGeom>
          <a:solidFill>
            <a:srgbClr val="015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Éditorial</a:t>
            </a:r>
          </a:p>
        </p:txBody>
      </p:sp>
      <p:sp>
        <p:nvSpPr>
          <p:cNvPr id="5" name="Chevron 4"/>
          <p:cNvSpPr/>
          <p:nvPr/>
        </p:nvSpPr>
        <p:spPr>
          <a:xfrm>
            <a:off x="3703320" y="1810512"/>
            <a:ext cx="502920" cy="411480"/>
          </a:xfrm>
          <a:prstGeom prst="chevron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91440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B2B2B"/>
                </a:solidFill>
                <a:latin typeface="Trebuchet MS"/>
              </a:rPr>
              <a:t>Responsable Éditorial</a:t>
            </a:r>
          </a:p>
        </p:txBody>
      </p:sp>
      <p:sp>
        <p:nvSpPr>
          <p:cNvPr id="7" name="Chevron 6"/>
          <p:cNvSpPr/>
          <p:nvPr/>
        </p:nvSpPr>
        <p:spPr>
          <a:xfrm>
            <a:off x="7818120" y="1810512"/>
            <a:ext cx="502920" cy="411480"/>
          </a:xfrm>
          <a:prstGeom prst="chevron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554480"/>
            <a:ext cx="3017520" cy="914400"/>
          </a:xfrm>
          <a:prstGeom prst="round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5438"/>
                </a:solidFill>
                <a:latin typeface="Trebuchet MS"/>
              </a:rPr>
              <a:t>Gérant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2926080" cy="914400"/>
          </a:xfrm>
          <a:prstGeom prst="roundRect">
            <a:avLst/>
          </a:prstGeom>
          <a:solidFill>
            <a:srgbClr val="015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Technique</a:t>
            </a:r>
          </a:p>
        </p:txBody>
      </p:sp>
      <p:sp>
        <p:nvSpPr>
          <p:cNvPr id="10" name="Chevron 9"/>
          <p:cNvSpPr/>
          <p:nvPr/>
        </p:nvSpPr>
        <p:spPr>
          <a:xfrm>
            <a:off x="3703320" y="3044952"/>
            <a:ext cx="502920" cy="411480"/>
          </a:xfrm>
          <a:prstGeom prst="chevron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788920"/>
            <a:ext cx="3291840" cy="91440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B2B2B"/>
                </a:solidFill>
                <a:latin typeface="Trebuchet MS"/>
              </a:rPr>
              <a:t>Responsable Technique</a:t>
            </a:r>
          </a:p>
        </p:txBody>
      </p:sp>
      <p:sp>
        <p:nvSpPr>
          <p:cNvPr id="12" name="Chevron 11"/>
          <p:cNvSpPr/>
          <p:nvPr/>
        </p:nvSpPr>
        <p:spPr>
          <a:xfrm>
            <a:off x="7818120" y="3044952"/>
            <a:ext cx="502920" cy="411480"/>
          </a:xfrm>
          <a:prstGeom prst="chevron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2788920"/>
            <a:ext cx="3017520" cy="914400"/>
          </a:xfrm>
          <a:prstGeom prst="round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5438"/>
                </a:solidFill>
                <a:latin typeface="Trebuchet MS"/>
              </a:rPr>
              <a:t>Gérant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2926080" cy="914400"/>
          </a:xfrm>
          <a:prstGeom prst="roundRect">
            <a:avLst/>
          </a:prstGeom>
          <a:solidFill>
            <a:srgbClr val="015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Administration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3703320" y="4279392"/>
            <a:ext cx="502920" cy="411480"/>
          </a:xfrm>
          <a:prstGeom prst="chevron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291840" cy="91440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B2B2B"/>
                </a:solidFill>
                <a:latin typeface="Trebuchet MS"/>
              </a:rPr>
              <a:t>— (aucun responsable)</a:t>
            </a:r>
          </a:p>
        </p:txBody>
      </p:sp>
      <p:sp>
        <p:nvSpPr>
          <p:cNvPr id="17" name="Chevron 16"/>
          <p:cNvSpPr/>
          <p:nvPr/>
        </p:nvSpPr>
        <p:spPr>
          <a:xfrm>
            <a:off x="7818120" y="4279392"/>
            <a:ext cx="502920" cy="411480"/>
          </a:xfrm>
          <a:prstGeom prst="chevron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20" y="4023360"/>
            <a:ext cx="3017520" cy="914400"/>
          </a:xfrm>
          <a:prstGeom prst="round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5438"/>
                </a:solidFill>
                <a:latin typeface="Trebuchet MS"/>
              </a:rPr>
              <a:t>Gérant directement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Trebuchet MS"/>
              </a:rPr>
              <a:t>Le département Administration n’a pas de supérieur hiérarchique : ses demandes vont directement au Gérant.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5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ED957"/>
                </a:solidFill>
                <a:latin typeface="Trebuchet MS"/>
              </a:rPr>
              <a:t>PARTIE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rebuchet MS"/>
              </a:rPr>
              <a:t>Côté employé : soumettre une demande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206240"/>
            <a:ext cx="2011680" cy="73152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Étape 1 : remplir le formulaire Google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Connectez-vous avec votre compte Google : votre adresse email est enregistrée automatiquement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C’est cette adresse qui recevra toutes les notifications — utilisez votre compte habituel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Renseignez votre nom, prénom(s) et votre département (Éditorial, Technique ou Administration)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Choisissez le type d’absence et le motif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Indiquez la date de début, puis la durée :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« Toute la journée » — le système remplit les heures automatiquement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« Personnaliser » — vous précisez heure de début, heure de fin et date de fin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Validez : vous recevez immédiatement un accusé de réception par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Les types d’absence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Maladie d’un proche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Famille — durée calculée automatiquement selon le motif :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666666"/>
                </a:solidFill>
                <a:latin typeface="Trebuchet MS"/>
              </a:rPr>
              <a:t>–  Mariage du travailleur (2 j) · Naissance d’un enfant (3 j) · Mariage d’un enfant/frère/sœur (2 j)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666666"/>
                </a:solidFill>
                <a:latin typeface="Trebuchet MS"/>
              </a:rPr>
              <a:t>–  Décès du conjoint ou d’un ascendant (2 j) · Décès frère/sœur (2 j) · Décès beau-parent (2 j)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Administration (démarches administratives)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Activités judiciaires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Motif syndical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Urgence — seul type accepté sans préavis (voir slide suivante)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Autre — avec motif libre à détailler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La règle d’or : 3 jours ouvrables de préavis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72800" cy="1188720"/>
          </a:xfrm>
          <a:prstGeom prst="roundRect">
            <a:avLst/>
          </a:prstGeom>
          <a:solidFill>
            <a:srgbClr val="F5FFE8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15438"/>
                </a:solidFill>
                <a:latin typeface="Trebuchet MS"/>
              </a:rPr>
              <a:t>Toute demande doit être soumise au moins 3 jours ouvrables avant la date de début.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Les samedis, dimanches et jours fériés ne comptent PAS dans les 3 jours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Exemple : pour une absence lundi, soumettre au plus tard le mardi précédent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Préavis insuffisant = rejet automatique immédiat, sans examen par un validateur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Vous recevez un email d’explication — vous pouvez soumettre une nouvelle demande avec de meilleures dates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Exception : le type « Urgence » est accepté à tout moment, mais suit le circuit de validation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Les emails que vous recevez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657600" cy="914400"/>
          </a:xfrm>
          <a:prstGeom prst="roundRect">
            <a:avLst/>
          </a:prstGeom>
          <a:solidFill>
            <a:srgbClr val="015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À la soumission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54480"/>
            <a:ext cx="7040880" cy="91440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2B2B2B"/>
                </a:solidFill>
                <a:latin typeface="Trebuchet MS"/>
              </a:rPr>
              <a:t>Accusé de réception avec votre référence ABT-…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3657600" cy="914400"/>
          </a:xfrm>
          <a:prstGeom prst="round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Pendant la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697480"/>
            <a:ext cx="7040880" cy="91440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2B2B2B"/>
                </a:solidFill>
                <a:latin typeface="Trebuchet MS"/>
              </a:rPr>
              <a:t>Rien — les étapes intermédiaires sont silencieuses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3657600" cy="914400"/>
          </a:xfrm>
          <a:prstGeom prst="roundRect">
            <a:avLst/>
          </a:prstGeom>
          <a:solidFill>
            <a:srgbClr val="015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Si on vous demande des précisions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840480"/>
            <a:ext cx="7040880" cy="91440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2B2B2B"/>
                </a:solidFill>
                <a:latin typeface="Trebuchet MS"/>
              </a:rPr>
              <a:t>Email avec le message du validateur + lien pour répondre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83480"/>
            <a:ext cx="3657600" cy="914400"/>
          </a:xfrm>
          <a:prstGeom prst="roundRect">
            <a:avLst/>
          </a:prstGeom>
          <a:solidFill>
            <a:srgbClr val="015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À la décision finale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983480"/>
            <a:ext cx="7040880" cy="91440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400" b="0">
                <a:solidFill>
                  <a:srgbClr val="2B2B2B"/>
                </a:solidFill>
                <a:latin typeface="Trebuchet MS"/>
              </a:rPr>
              <a:t>Approuvé : confirmation + PDF officiel · Rejeté : email avec le motif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Si un validateur demande des précisions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Avant de décider, le Responsable ou le Gérant peut vous demander plus de détails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Vous recevez un email avec son message et un bouton « Répondre 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Cliquez, rédigez votre réponse, envoyez : le validateur est notifié et peut alors décider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Répondez rapidement : la demande reste « En attente de précisions » tant que vous n’avez pas répondu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Maximum 2 allers-retours par demande — soyez précis dès la première réponse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5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ED957"/>
                </a:solidFill>
                <a:latin typeface="Trebuchet MS"/>
              </a:rPr>
              <a:t>PARTIE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rebuchet MS"/>
              </a:rPr>
              <a:t>Côté validateurs : Responsables et Gérant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206240"/>
            <a:ext cx="2011680" cy="73152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Option 1 : décider depuis l’email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383280" cy="822960"/>
          </a:xfrm>
          <a:prstGeom prst="round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5438"/>
                </a:solidFill>
                <a:latin typeface="Trebuchet MS"/>
              </a:rPr>
              <a:t>✓  APPROUVER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822960"/>
          </a:xfrm>
          <a:prstGeom prst="round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Trebuchet MS"/>
              </a:rPr>
              <a:t>✕  REJETER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383280" cy="82296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5438"/>
                </a:solidFill>
                <a:latin typeface="Trebuchet MS"/>
              </a:rPr>
              <a:t>?  DEMANDER PLUS DE DÉTAILS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Vous recevez un email avec toute la demande : employé, motif, dates, durée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Un clic suffit — une page de confirmation s’ouvre dans votre navigateur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Le lien est personnel et à usage unique :</a:t>
            </a:r>
          </a:p>
          <a:p>
            <a:pPr lvl="1">
              <a:spcAft>
                <a:spcPts val="1200"/>
              </a:spcAft>
            </a:pPr>
            <a:r>
              <a:rPr sz="1400">
                <a:solidFill>
                  <a:srgbClr val="666666"/>
                </a:solidFill>
                <a:latin typeface="Trebuchet MS"/>
              </a:rPr>
              <a:t>–  il ne fonctionne qu’avec VOTRE compte Google — ne transférez jamais l’email</a:t>
            </a:r>
          </a:p>
          <a:p>
            <a:pPr lvl="1">
              <a:spcAft>
                <a:spcPts val="1200"/>
              </a:spcAft>
            </a:pPr>
            <a:r>
              <a:rPr sz="1400">
                <a:solidFill>
                  <a:srgbClr val="666666"/>
                </a:solidFill>
                <a:latin typeface="Trebuchet MS"/>
              </a:rPr>
              <a:t>–  une fois la décision prise, le lien est désactivé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Trebuchet MS"/>
              </a:rPr>
              <a:t>▶  En cas de rejet ou de demande de détails, un champ vous permet d’expliquer votre motif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Option 2 : décider dans le Google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Le tableau de suivi contient une ligne par demande, avec les colonnes d’avis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Choisissez « Approuvé » ou « Rejeté » dans le menu déroulant de VOTRE colonne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Colonne Avis Supérieur pour les Responsables · colonne Avis Gérant pour le Gérant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Pour un rejet : écrivez d’abord le motif dans la colonne Commentaire, PUIS changez l’avis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Chaque cellule est protégée : seul le validateur désigné de la ligne peut la modifier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Les deux modes (email et Sheet) coexistent sans conflit — le premier qui décide l’emporte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Comment la décision avance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Le Responsable approuve → la demande part automatiquement au Gérant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Le Gérant approuve → la demande est close, l’employé reçoit son PDF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Un rejet à N’IMPORTE quel niveau clôture immédiatement la demande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L’employé est prévenu tout de suite, avec le motif du rejet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Anti auto-validation : personne ne valide sa propre demande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Un Responsable qui demande une absence : son niveau est sauté, la demande va au Gérant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Les demandes du département Administration arrivent directement chez le Gérant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Relances automatiques : personne n’oublie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Chaque jour à 8h00, le système vérifie les demandes en attente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Le validateur qui n’a pas répondu depuis 1 jour reçoit un email de relance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Le même lien de décision, remis en avant — rien à chercher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Les relances s’arrêtent automatiquement une fois la date de début de l’absence passée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Conseil : traitez les demandes dès réception, l’employé attend votre réponse pour s’organiser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Après la décision finale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Demande APPROUVÉE :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un dossier Drive est créé au nom de la demande (ABT-…)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le document officiel est généré (Google Doc + PDF)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l’employé reçoit le PDF en pièce jointe de sa confirmation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une copie PDF est archivée dans le dossier admin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Demande REJETÉE :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email immédiat à l’employé avec le motif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666666"/>
                </a:solidFill>
                <a:latin typeface="Trebuchet MS"/>
              </a:rPr>
              <a:t>–  aucun document créé — pas de trace dans le Drive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Trebuchet MS"/>
              </a:rPr>
              <a:t>▶  Le statut global de chaque demande est visible dans le tableau de suivi (En cours / Approuvé / Rejeté)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15438"/>
                </a:solidFill>
                <a:latin typeface="Trebuchet MS"/>
              </a:rPr>
              <a:t>Les règles d’or à retenir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463040" cy="64008"/>
          </a:xfrm>
          <a:prstGeom prst="rect">
            <a:avLst/>
          </a:prstGeom>
          <a:solidFill>
            <a:srgbClr val="7ED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94960" cy="4206240"/>
          </a:xfrm>
          <a:prstGeom prst="roundRect">
            <a:avLst/>
          </a:prstGeom>
          <a:solidFill>
            <a:srgbClr val="F0FAF3"/>
          </a:solidFill>
          <a:ln w="12700">
            <a:solidFill>
              <a:srgbClr val="015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/>
            <a:r>
              <a:rPr sz="1800" b="1">
                <a:solidFill>
                  <a:srgbClr val="015438"/>
                </a:solidFill>
                <a:latin typeface="Trebuchet MS"/>
              </a:rPr>
              <a:t>EMPLOYÉS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B2B2B"/>
                </a:solidFill>
                <a:latin typeface="Trebuchet MS"/>
              </a:rPr>
              <a:t>▶  Anticipez : 3 jours ouvrables minimum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B2B2B"/>
                </a:solidFill>
                <a:latin typeface="Trebuchet MS"/>
              </a:rPr>
              <a:t>▶  Soumettez avec votre compte Google habituel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B2B2B"/>
                </a:solidFill>
                <a:latin typeface="Trebuchet MS"/>
              </a:rPr>
              <a:t>▶  Surveillez vos emails (précisions éventuelles)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B2B2B"/>
                </a:solidFill>
                <a:latin typeface="Trebuchet MS"/>
              </a:rPr>
              <a:t>▶  Urgence réelle uniquement pour le type Urgence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B2B2B"/>
                </a:solidFill>
                <a:latin typeface="Trebuchet MS"/>
              </a:rPr>
              <a:t>▶  Conservez le PDF de votre autorisation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394960" cy="4206240"/>
          </a:xfrm>
          <a:prstGeom prst="roundRect">
            <a:avLst/>
          </a:prstGeom>
          <a:solidFill>
            <a:srgbClr val="015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/>
            <a:r>
              <a:rPr sz="1800" b="1">
                <a:solidFill>
                  <a:srgbClr val="7ED957"/>
                </a:solidFill>
                <a:latin typeface="Trebuchet MS"/>
              </a:rPr>
              <a:t>VALIDATEURS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Trebuchet MS"/>
              </a:rPr>
              <a:t>▶  Ne transférez JAMAIS votre lien de validation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Trebuchet MS"/>
              </a:rPr>
              <a:t>▶  Motivez toujours vos rejets (commentaire)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Trebuchet MS"/>
              </a:rPr>
              <a:t>▶  Répondez vite : l’employé attend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Trebuchet MS"/>
              </a:rPr>
              <a:t>▶  Sheet ou email : les deux fonctionnent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Trebuchet MS"/>
              </a:rPr>
              <a:t>▶  En cas de doute : « Demander plus de détails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Trebuchet MS"/>
              </a:rPr>
              <a:t>Agribusiness TV — Formation : demande d’autorisation d’absence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Trebuchet M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5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rebuchet MS"/>
              </a:rPr>
              <a:t>Des 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ED957"/>
                </a:solidFill>
                <a:latin typeface="Trebuchet MS"/>
              </a:rPr>
              <a:t>Merci de votre attention — le système est là pour vous simplifier la vie.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ED957"/>
                </a:solidFill>
                <a:latin typeface="Trebuchet MS"/>
              </a:rPr>
              <a:t>▶ agribusiness tv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